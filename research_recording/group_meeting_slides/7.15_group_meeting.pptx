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40E96C-9EBD-44C8-89F1-6B539CD5DAD2}" v="12" dt="2026-07-14T02:43:3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灏锦 张" userId="098f73f048af6dd6" providerId="LiveId" clId="{31A13A29-9263-4783-AF75-B4F7CD59E009}"/>
    <pc:docChg chg="undo custSel modSld">
      <pc:chgData name="灏锦 张" userId="098f73f048af6dd6" providerId="LiveId" clId="{31A13A29-9263-4783-AF75-B4F7CD59E009}" dt="2026-07-14T02:47:07.136" v="205" actId="403"/>
      <pc:docMkLst>
        <pc:docMk/>
      </pc:docMkLst>
      <pc:sldChg chg="addSp delSp modSp mod modClrScheme chgLayout">
        <pc:chgData name="灏锦 张" userId="098f73f048af6dd6" providerId="LiveId" clId="{31A13A29-9263-4783-AF75-B4F7CD59E009}" dt="2026-07-14T02:47:07.136" v="205" actId="403"/>
        <pc:sldMkLst>
          <pc:docMk/>
          <pc:sldMk cId="2078287190" sldId="256"/>
        </pc:sldMkLst>
        <pc:spChg chg="mod">
          <ac:chgData name="灏锦 张" userId="098f73f048af6dd6" providerId="LiveId" clId="{31A13A29-9263-4783-AF75-B4F7CD59E009}" dt="2026-07-14T02:43:33.517" v="117" actId="21"/>
          <ac:spMkLst>
            <pc:docMk/>
            <pc:sldMk cId="2078287190" sldId="256"/>
            <ac:spMk id="2" creationId="{70D76729-3D9D-4E24-B014-FA4A01DFD061}"/>
          </ac:spMkLst>
        </pc:spChg>
        <pc:spChg chg="del mod">
          <ac:chgData name="灏锦 张" userId="098f73f048af6dd6" providerId="LiveId" clId="{31A13A29-9263-4783-AF75-B4F7CD59E009}" dt="2026-07-14T02:46:20.157" v="126" actId="478"/>
          <ac:spMkLst>
            <pc:docMk/>
            <pc:sldMk cId="2078287190" sldId="256"/>
            <ac:spMk id="3" creationId="{88938D3B-5C2C-46E1-A78A-38600981814A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4" creationId="{AF25A555-2A7D-4838-9975-EB5476029138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5" creationId="{4216F447-7AAC-4587-87F7-C0290E46E3CC}"/>
          </ac:spMkLst>
        </pc:spChg>
        <pc:spChg chg="mod">
          <ac:chgData name="灏锦 张" userId="098f73f048af6dd6" providerId="LiveId" clId="{31A13A29-9263-4783-AF75-B4F7CD59E009}" dt="2026-07-14T02:46:28.098" v="146" actId="20577"/>
          <ac:spMkLst>
            <pc:docMk/>
            <pc:sldMk cId="2078287190" sldId="256"/>
            <ac:spMk id="6" creationId="{ED24560E-84B3-4584-869B-CB453391AFC9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7" creationId="{CB43A3F9-9EC3-4725-8905-F51C4E125BFE}"/>
          </ac:spMkLst>
        </pc:spChg>
        <pc:spChg chg="mod">
          <ac:chgData name="灏锦 张" userId="098f73f048af6dd6" providerId="LiveId" clId="{31A13A29-9263-4783-AF75-B4F7CD59E009}" dt="2026-07-14T02:44:00.404" v="122" actId="1076"/>
          <ac:spMkLst>
            <pc:docMk/>
            <pc:sldMk cId="2078287190" sldId="256"/>
            <ac:spMk id="8" creationId="{64BCC636-7CBA-4304-B6C6-29A4C05AB60C}"/>
          </ac:spMkLst>
        </pc:spChg>
        <pc:spChg chg="mod">
          <ac:chgData name="灏锦 张" userId="098f73f048af6dd6" providerId="LiveId" clId="{31A13A29-9263-4783-AF75-B4F7CD59E009}" dt="2026-07-14T02:44:16.703" v="124" actId="1076"/>
          <ac:spMkLst>
            <pc:docMk/>
            <pc:sldMk cId="2078287190" sldId="256"/>
            <ac:spMk id="9" creationId="{2B4A54F8-EE8F-4B4B-B93E-87DC3C9F8AA5}"/>
          </ac:spMkLst>
        </pc:spChg>
        <pc:spChg chg="mod">
          <ac:chgData name="灏锦 张" userId="098f73f048af6dd6" providerId="LiveId" clId="{31A13A29-9263-4783-AF75-B4F7CD59E009}" dt="2026-07-14T02:44:16.703" v="124" actId="1076"/>
          <ac:spMkLst>
            <pc:docMk/>
            <pc:sldMk cId="2078287190" sldId="256"/>
            <ac:spMk id="10" creationId="{58282621-DD4E-4D2B-8643-57BD22B2D728}"/>
          </ac:spMkLst>
        </pc:spChg>
        <pc:spChg chg="mod">
          <ac:chgData name="灏锦 张" userId="098f73f048af6dd6" providerId="LiveId" clId="{31A13A29-9263-4783-AF75-B4F7CD59E009}" dt="2026-07-14T02:46:56.183" v="203" actId="20577"/>
          <ac:spMkLst>
            <pc:docMk/>
            <pc:sldMk cId="2078287190" sldId="256"/>
            <ac:spMk id="11" creationId="{254A60AC-355F-4134-B356-CADD9DF6B9AB}"/>
          </ac:spMkLst>
        </pc:spChg>
        <pc:spChg chg="mod">
          <ac:chgData name="灏锦 张" userId="098f73f048af6dd6" providerId="LiveId" clId="{31A13A29-9263-4783-AF75-B4F7CD59E009}" dt="2026-07-14T02:44:16.703" v="124" actId="1076"/>
          <ac:spMkLst>
            <pc:docMk/>
            <pc:sldMk cId="2078287190" sldId="256"/>
            <ac:spMk id="12" creationId="{3FE43301-E168-468B-89B4-95029EE8826B}"/>
          </ac:spMkLst>
        </pc:spChg>
        <pc:spChg chg="mod">
          <ac:chgData name="灏锦 张" userId="098f73f048af6dd6" providerId="LiveId" clId="{31A13A29-9263-4783-AF75-B4F7CD59E009}" dt="2026-07-14T02:44:16.703" v="124" actId="1076"/>
          <ac:spMkLst>
            <pc:docMk/>
            <pc:sldMk cId="2078287190" sldId="256"/>
            <ac:spMk id="13" creationId="{FC592A7A-AF72-40C3-8A9B-BEAF4C101A28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4" creationId="{B4C10A70-51D7-4186-8F4F-3688394690D6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5" creationId="{BFA15047-6764-42DC-9258-3A1CFD31FACD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6" creationId="{AC53D15A-8E1F-4E97-A701-1F6153CBF48C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7" creationId="{4DAB3CDC-EEB3-4B25-8F28-5A4E71F7D876}"/>
          </ac:spMkLst>
        </pc:spChg>
        <pc:spChg chg="mod">
          <ac:chgData name="灏锦 张" userId="098f73f048af6dd6" providerId="LiveId" clId="{31A13A29-9263-4783-AF75-B4F7CD59E009}" dt="2026-07-14T02:44:26.146" v="125" actId="1076"/>
          <ac:spMkLst>
            <pc:docMk/>
            <pc:sldMk cId="2078287190" sldId="256"/>
            <ac:spMk id="18" creationId="{D94B65E6-D9D0-4801-8D47-CD54D0322222}"/>
          </ac:spMkLst>
        </pc:spChg>
        <pc:spChg chg="del">
          <ac:chgData name="灏锦 张" userId="098f73f048af6dd6" providerId="LiveId" clId="{31A13A29-9263-4783-AF75-B4F7CD59E009}" dt="2026-07-14T02:44:06.434" v="123" actId="478"/>
          <ac:spMkLst>
            <pc:docMk/>
            <pc:sldMk cId="2078287190" sldId="256"/>
            <ac:spMk id="19" creationId="{155BA264-AF25-4FF9-9222-BCD72E002B1D}"/>
          </ac:spMkLst>
        </pc:spChg>
        <pc:spChg chg="del mod">
          <ac:chgData name="灏锦 张" userId="098f73f048af6dd6" providerId="LiveId" clId="{31A13A29-9263-4783-AF75-B4F7CD59E009}" dt="2026-07-14T02:43:03.522" v="108" actId="21"/>
          <ac:spMkLst>
            <pc:docMk/>
            <pc:sldMk cId="2078287190" sldId="256"/>
            <ac:spMk id="21" creationId="{ABD58E80-E5DE-4389-AC00-C43C211AE6D9}"/>
          </ac:spMkLst>
        </pc:spChg>
        <pc:spChg chg="add del mod ord">
          <ac:chgData name="灏锦 张" userId="098f73f048af6dd6" providerId="LiveId" clId="{31A13A29-9263-4783-AF75-B4F7CD59E009}" dt="2026-07-14T02:43:04.926" v="109" actId="22"/>
          <ac:spMkLst>
            <pc:docMk/>
            <pc:sldMk cId="2078287190" sldId="256"/>
            <ac:spMk id="22" creationId="{904E7B9C-CBDC-D1BF-4B89-29173EB67F53}"/>
          </ac:spMkLst>
        </pc:spChg>
        <pc:spChg chg="add mod ord">
          <ac:chgData name="灏锦 张" userId="098f73f048af6dd6" providerId="LiveId" clId="{31A13A29-9263-4783-AF75-B4F7CD59E009}" dt="2026-07-14T02:43:34.608" v="118"/>
          <ac:spMkLst>
            <pc:docMk/>
            <pc:sldMk cId="2078287190" sldId="256"/>
            <ac:spMk id="23" creationId="{4DEBB63F-0B4E-A47A-76AF-B683FA250E74}"/>
          </ac:spMkLst>
        </pc:spChg>
        <pc:spChg chg="add mod">
          <ac:chgData name="灏锦 张" userId="098f73f048af6dd6" providerId="LiveId" clId="{31A13A29-9263-4783-AF75-B4F7CD59E009}" dt="2026-07-14T02:47:07.136" v="205" actId="403"/>
          <ac:spMkLst>
            <pc:docMk/>
            <pc:sldMk cId="2078287190" sldId="256"/>
            <ac:spMk id="25" creationId="{CE36B438-48EE-47BE-31C3-10E440AA5DFC}"/>
          </ac:spMkLst>
        </pc:spChg>
      </pc:sldChg>
      <pc:sldChg chg="modSp mod">
        <pc:chgData name="灏锦 张" userId="098f73f048af6dd6" providerId="LiveId" clId="{31A13A29-9263-4783-AF75-B4F7CD59E009}" dt="2026-07-14T02:33:54.162" v="87" actId="1076"/>
        <pc:sldMkLst>
          <pc:docMk/>
          <pc:sldMk cId="317729940" sldId="257"/>
        </pc:sldMkLst>
        <pc:spChg chg="mod">
          <ac:chgData name="灏锦 张" userId="098f73f048af6dd6" providerId="LiveId" clId="{31A13A29-9263-4783-AF75-B4F7CD59E009}" dt="2026-07-14T02:33:49.547" v="86" actId="1076"/>
          <ac:spMkLst>
            <pc:docMk/>
            <pc:sldMk cId="317729940" sldId="257"/>
            <ac:spMk id="23" creationId="{C95B608F-A29F-43C9-9E96-A876777796F5}"/>
          </ac:spMkLst>
        </pc:spChg>
        <pc:spChg chg="mod">
          <ac:chgData name="灏锦 张" userId="098f73f048af6dd6" providerId="LiveId" clId="{31A13A29-9263-4783-AF75-B4F7CD59E009}" dt="2026-07-14T02:33:54.162" v="87" actId="1076"/>
          <ac:spMkLst>
            <pc:docMk/>
            <pc:sldMk cId="317729940" sldId="257"/>
            <ac:spMk id="24" creationId="{F81E276C-956F-45E7-9717-E0F34D7B77E2}"/>
          </ac:spMkLst>
        </pc:spChg>
        <pc:spChg chg="mod">
          <ac:chgData name="灏锦 张" userId="098f73f048af6dd6" providerId="LiveId" clId="{31A13A29-9263-4783-AF75-B4F7CD59E009}" dt="2026-07-14T02:33:40.451" v="85" actId="1076"/>
          <ac:spMkLst>
            <pc:docMk/>
            <pc:sldMk cId="317729940" sldId="257"/>
            <ac:spMk id="27" creationId="{EE301B2E-79D5-4F4E-9974-DFA4FD843F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54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14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8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48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384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4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3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9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37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5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908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454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399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432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241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7229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298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02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0D76729-3D9D-4E24-B014-FA4A01DFD061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819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4B5563"/>
                </a:solidFill>
              </a:defRPr>
            </a:pPr>
            <a:endParaRPr sz="1950" b="0" dirty="0">
              <a:solidFill>
                <a:srgbClr val="4B5563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F25A555-2A7D-4838-9975-EB5476029138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16F447-7AAC-4587-87F7-C0290E46E3C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24560E-84B3-4584-869B-CB453391AFC9}"/>
              </a:ext>
            </a:extLst>
          </p:cNvPr>
          <p:cNvSpPr>
            <a:spLocks noGrp="1"/>
          </p:cNvSpPr>
          <p:nvPr/>
        </p:nvSpPr>
        <p:spPr>
          <a:xfrm>
            <a:off x="819150" y="5791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 dirty="0">
                <a:solidFill>
                  <a:srgbClr val="4B5563"/>
                </a:solidFill>
              </a:rPr>
              <a:t>Pose calibration</a:t>
            </a:r>
            <a:r>
              <a:rPr lang="en-US" sz="1200" b="1" dirty="0">
                <a:solidFill>
                  <a:srgbClr val="4B5563"/>
                </a:solidFill>
              </a:rPr>
              <a:t> and force mapping</a:t>
            </a:r>
            <a:endParaRPr sz="1200" b="1" dirty="0">
              <a:solidFill>
                <a:srgbClr val="4B556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43A3F9-9EC3-4725-8905-F51C4E125BFE}"/>
              </a:ext>
            </a:extLst>
          </p:cNvPr>
          <p:cNvSpPr>
            <a:spLocks noGrp="1"/>
          </p:cNvSpPr>
          <p:nvPr/>
        </p:nvSpPr>
        <p:spPr>
          <a:xfrm>
            <a:off x="819150" y="60769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lang="en-US" sz="2400" b="1" dirty="0">
                <a:solidFill>
                  <a:srgbClr val="111827"/>
                </a:solidFill>
              </a:rPr>
              <a:t>7 experiment</a:t>
            </a:r>
            <a:endParaRPr sz="2400" b="1" dirty="0">
              <a:solidFill>
                <a:srgbClr val="111827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CC636-7CBA-4304-B6C6-29A4C05AB60C}"/>
              </a:ext>
            </a:extLst>
          </p:cNvPr>
          <p:cNvSpPr>
            <a:spLocks noGrp="1"/>
          </p:cNvSpPr>
          <p:nvPr/>
        </p:nvSpPr>
        <p:spPr>
          <a:xfrm>
            <a:off x="819150" y="64960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6628 matched motion pairs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B4A54F8-EE8F-4B4B-B93E-87DC3C9F8AA5}"/>
              </a:ext>
            </a:extLst>
          </p:cNvPr>
          <p:cNvSpPr>
            <a:spLocks noGrp="1"/>
          </p:cNvSpPr>
          <p:nvPr/>
        </p:nvSpPr>
        <p:spPr>
          <a:xfrm>
            <a:off x="4222752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282621-DD4E-4D2B-8643-57BD22B2D728}"/>
              </a:ext>
            </a:extLst>
          </p:cNvPr>
          <p:cNvSpPr>
            <a:spLocks noGrp="1"/>
          </p:cNvSpPr>
          <p:nvPr/>
        </p:nvSpPr>
        <p:spPr>
          <a:xfrm>
            <a:off x="4222752" y="561975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54A60AC-355F-4134-B356-CADD9DF6B9AB}"/>
              </a:ext>
            </a:extLst>
          </p:cNvPr>
          <p:cNvSpPr>
            <a:spLocks noGrp="1"/>
          </p:cNvSpPr>
          <p:nvPr/>
        </p:nvSpPr>
        <p:spPr>
          <a:xfrm>
            <a:off x="4432302" y="5791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lang="en-US" sz="1200" b="1" dirty="0">
                <a:solidFill>
                  <a:srgbClr val="4B5563"/>
                </a:solidFill>
              </a:rPr>
              <a:t>Manual script update</a:t>
            </a:r>
            <a:endParaRPr sz="1200" b="1" dirty="0">
              <a:solidFill>
                <a:srgbClr val="4B5563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FE43301-E168-468B-89B4-95029EE8826B}"/>
              </a:ext>
            </a:extLst>
          </p:cNvPr>
          <p:cNvSpPr>
            <a:spLocks noGrp="1"/>
          </p:cNvSpPr>
          <p:nvPr/>
        </p:nvSpPr>
        <p:spPr>
          <a:xfrm>
            <a:off x="4432302" y="60769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 dirty="0">
                <a:solidFill>
                  <a:srgbClr val="111827"/>
                </a:solidFill>
              </a:rPr>
              <a:t>2428 samples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592A7A-AF72-40C3-8A9B-BEAF4C101A28}"/>
              </a:ext>
            </a:extLst>
          </p:cNvPr>
          <p:cNvSpPr>
            <a:spLocks noGrp="1"/>
          </p:cNvSpPr>
          <p:nvPr/>
        </p:nvSpPr>
        <p:spPr>
          <a:xfrm>
            <a:off x="4432302" y="64960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8D proxy input to normal force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4C10A70-51D7-4186-8F4F-3688394690D6}"/>
              </a:ext>
            </a:extLst>
          </p:cNvPr>
          <p:cNvSpPr>
            <a:spLocks noGrp="1"/>
          </p:cNvSpPr>
          <p:nvPr/>
        </p:nvSpPr>
        <p:spPr>
          <a:xfrm>
            <a:off x="7835904" y="561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A15047-6764-42DC-9258-3A1CFD31FACD}"/>
              </a:ext>
            </a:extLst>
          </p:cNvPr>
          <p:cNvSpPr>
            <a:spLocks noGrp="1"/>
          </p:cNvSpPr>
          <p:nvPr/>
        </p:nvSpPr>
        <p:spPr>
          <a:xfrm>
            <a:off x="7835904" y="5619750"/>
            <a:ext cx="6667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C53D15A-8E1F-4E97-A701-1F6153CBF48C}"/>
              </a:ext>
            </a:extLst>
          </p:cNvPr>
          <p:cNvSpPr>
            <a:spLocks noGrp="1"/>
          </p:cNvSpPr>
          <p:nvPr/>
        </p:nvSpPr>
        <p:spPr>
          <a:xfrm>
            <a:off x="8045454" y="57912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Policy models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AB3CDC-EEB3-4B25-8F28-5A4E71F7D876}"/>
              </a:ext>
            </a:extLst>
          </p:cNvPr>
          <p:cNvSpPr>
            <a:spLocks noGrp="1"/>
          </p:cNvSpPr>
          <p:nvPr/>
        </p:nvSpPr>
        <p:spPr>
          <a:xfrm>
            <a:off x="8045454" y="607695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 baselines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4B65E6-D9D0-4801-8D47-CD54D0322222}"/>
              </a:ext>
            </a:extLst>
          </p:cNvPr>
          <p:cNvSpPr>
            <a:spLocks noGrp="1"/>
          </p:cNvSpPr>
          <p:nvPr/>
        </p:nvSpPr>
        <p:spPr>
          <a:xfrm>
            <a:off x="8045454" y="64960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ACT and diffusion training pipelines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5EAA01-1518-48B9-A486-C36DDF0765B9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01</a:t>
            </a:r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CE36B438-48EE-47BE-31C3-10E440AA5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111827"/>
                </a:solidFill>
              </a:defRPr>
            </a:pPr>
            <a:r>
              <a:rPr lang="en-US" sz="4800" b="1" dirty="0">
                <a:solidFill>
                  <a:srgbClr val="111827"/>
                </a:solidFill>
              </a:rPr>
              <a:t>7.15</a:t>
            </a:r>
            <a:r>
              <a:rPr sz="4800" b="1" dirty="0">
                <a:solidFill>
                  <a:srgbClr val="111827"/>
                </a:solidFill>
              </a:rPr>
              <a:t> </a:t>
            </a:r>
            <a:r>
              <a:rPr lang="en-US" sz="4800" b="1" dirty="0">
                <a:solidFill>
                  <a:srgbClr val="111827"/>
                </a:solidFill>
              </a:rPr>
              <a:t>group meeting</a:t>
            </a:r>
            <a:endParaRPr sz="4800" b="1" dirty="0">
              <a:solidFill>
                <a:srgbClr val="111827"/>
              </a:solidFill>
            </a:endParaRPr>
          </a:p>
        </p:txBody>
      </p:sp>
      <p:sp>
        <p:nvSpPr>
          <p:cNvPr id="23" name="副标题 22">
            <a:extLst>
              <a:ext uri="{FF2B5EF4-FFF2-40B4-BE49-F238E27FC236}">
                <a16:creationId xmlns:a16="http://schemas.microsoft.com/office/drawing/2014/main" id="{4DEBB63F-0B4E-A47A-76AF-B683FA250E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rgbClr val="4B5563"/>
                </a:solidFill>
              </a:rPr>
              <a:t>Ultrasound probe imitation learning data collection and model training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287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EE301B2E-79D5-4F4E-9974-DFA4FD843F83}"/>
              </a:ext>
            </a:extLst>
          </p:cNvPr>
          <p:cNvSpPr>
            <a:spLocks noGrp="1"/>
          </p:cNvSpPr>
          <p:nvPr/>
        </p:nvSpPr>
        <p:spPr>
          <a:xfrm>
            <a:off x="723900" y="714375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 dirty="0">
                <a:solidFill>
                  <a:srgbClr val="111827"/>
                </a:solidFill>
              </a:rPr>
              <a:t>This week turned calibration into manuscript-ready evidence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94B3B2-E287-4E5D-92B1-07CE776BC5A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4578870-DEFA-4E80-BA14-3450DC5DECA2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3EDA306-A77C-435F-B6CE-415B6D2BD2A7}"/>
              </a:ext>
            </a:extLst>
          </p:cNvPr>
          <p:cNvSpPr>
            <a:spLocks noGrp="1"/>
          </p:cNvSpPr>
          <p:nvPr/>
        </p:nvSpPr>
        <p:spPr>
          <a:xfrm>
            <a:off x="895350" y="2000250"/>
            <a:ext cx="381000" cy="38100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01011B-6AC9-42A8-9634-507CFF53A806}"/>
              </a:ext>
            </a:extLst>
          </p:cNvPr>
          <p:cNvSpPr>
            <a:spLocks noGrp="1"/>
          </p:cNvSpPr>
          <p:nvPr/>
        </p:nvSpPr>
        <p:spPr>
          <a:xfrm>
            <a:off x="895350" y="20574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3FEE287-AB9C-497F-9F4B-EFAE7F332AEF}"/>
              </a:ext>
            </a:extLst>
          </p:cNvPr>
          <p:cNvSpPr>
            <a:spLocks noGrp="1"/>
          </p:cNvSpPr>
          <p:nvPr/>
        </p:nvSpPr>
        <p:spPr>
          <a:xfrm>
            <a:off x="1409700" y="1981200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Rigid pose transformation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8AABBBC-58AE-4893-A631-DC0E6D062FBF}"/>
              </a:ext>
            </a:extLst>
          </p:cNvPr>
          <p:cNvSpPr>
            <a:spLocks noGrp="1"/>
          </p:cNvSpPr>
          <p:nvPr/>
        </p:nvSpPr>
        <p:spPr>
          <a:xfrm>
            <a:off x="1409700" y="2305050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Validated tag-to-flange conversion on full and axis-constrained robot motions.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2EE6658-0797-4E87-AAF3-A538FD24CF97}"/>
              </a:ext>
            </a:extLst>
          </p:cNvPr>
          <p:cNvSpPr>
            <a:spLocks noGrp="1"/>
          </p:cNvSpPr>
          <p:nvPr/>
        </p:nvSpPr>
        <p:spPr>
          <a:xfrm>
            <a:off x="6515100" y="1809750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800097A-C27D-472B-9B80-11A66FC9938C}"/>
              </a:ext>
            </a:extLst>
          </p:cNvPr>
          <p:cNvSpPr>
            <a:spLocks noGrp="1"/>
          </p:cNvSpPr>
          <p:nvPr/>
        </p:nvSpPr>
        <p:spPr>
          <a:xfrm>
            <a:off x="6686550" y="2000250"/>
            <a:ext cx="381000" cy="381000"/>
          </a:xfrm>
          <a:prstGeom prst="ellipse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618CA1-D17A-4678-942E-78651D52F59B}"/>
              </a:ext>
            </a:extLst>
          </p:cNvPr>
          <p:cNvSpPr>
            <a:spLocks noGrp="1"/>
          </p:cNvSpPr>
          <p:nvPr/>
        </p:nvSpPr>
        <p:spPr>
          <a:xfrm>
            <a:off x="6686550" y="20574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C7E603-7C7D-406E-A8B7-3D9FA0348741}"/>
              </a:ext>
            </a:extLst>
          </p:cNvPr>
          <p:cNvSpPr>
            <a:spLocks noGrp="1"/>
          </p:cNvSpPr>
          <p:nvPr/>
        </p:nvSpPr>
        <p:spPr>
          <a:xfrm>
            <a:off x="7200900" y="1981200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Normal force mapping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2413B4-F663-466A-B503-1D198D253B4E}"/>
              </a:ext>
            </a:extLst>
          </p:cNvPr>
          <p:cNvSpPr>
            <a:spLocks noGrp="1"/>
          </p:cNvSpPr>
          <p:nvPr/>
        </p:nvSpPr>
        <p:spPr>
          <a:xfrm>
            <a:off x="7200900" y="2305050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Trained proxy-signal mapping from IMU and Paxini measurements to KWR75B normal force.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9540115-CD7E-4F04-8A98-B4D7E8C0C712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4D2D1DD8-EE02-4FB8-91BB-EBD51CA68D11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381000" cy="381000"/>
          </a:xfrm>
          <a:prstGeom prst="ellipse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AA9E24-CA9D-4641-8326-495CDD81CDF8}"/>
              </a:ext>
            </a:extLst>
          </p:cNvPr>
          <p:cNvSpPr>
            <a:spLocks noGrp="1"/>
          </p:cNvSpPr>
          <p:nvPr/>
        </p:nvSpPr>
        <p:spPr>
          <a:xfrm>
            <a:off x="895350" y="37719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1D51EB-4C5D-4E97-BCCA-C203DF82BE7B}"/>
              </a:ext>
            </a:extLst>
          </p:cNvPr>
          <p:cNvSpPr>
            <a:spLocks noGrp="1"/>
          </p:cNvSpPr>
          <p:nvPr/>
        </p:nvSpPr>
        <p:spPr>
          <a:xfrm>
            <a:off x="1409700" y="3695700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Manuscript integration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6A0549-C594-42D7-810E-D303E48A74BB}"/>
              </a:ext>
            </a:extLst>
          </p:cNvPr>
          <p:cNvSpPr>
            <a:spLocks noGrp="1"/>
          </p:cNvSpPr>
          <p:nvPr/>
        </p:nvSpPr>
        <p:spPr>
          <a:xfrm>
            <a:off x="1409700" y="4019550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Added result figure, table, and polished Section VI-A text for rigid transformation validation.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7063021-8926-4F01-913D-51E8AABC35C1}"/>
              </a:ext>
            </a:extLst>
          </p:cNvPr>
          <p:cNvSpPr>
            <a:spLocks noGrp="1"/>
          </p:cNvSpPr>
          <p:nvPr/>
        </p:nvSpPr>
        <p:spPr>
          <a:xfrm>
            <a:off x="6515100" y="3524250"/>
            <a:ext cx="4953000" cy="11811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D450B85-3CA7-454C-8267-1C612E984C0F}"/>
              </a:ext>
            </a:extLst>
          </p:cNvPr>
          <p:cNvSpPr>
            <a:spLocks noGrp="1"/>
          </p:cNvSpPr>
          <p:nvPr/>
        </p:nvSpPr>
        <p:spPr>
          <a:xfrm>
            <a:off x="6686550" y="3714750"/>
            <a:ext cx="381000" cy="38100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A4242B-BB79-4419-A35C-04431C5550F5}"/>
              </a:ext>
            </a:extLst>
          </p:cNvPr>
          <p:cNvSpPr>
            <a:spLocks noGrp="1"/>
          </p:cNvSpPr>
          <p:nvPr/>
        </p:nvSpPr>
        <p:spPr>
          <a:xfrm>
            <a:off x="6686550" y="37719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31AD26-A264-414E-BEAF-F746B4600757}"/>
              </a:ext>
            </a:extLst>
          </p:cNvPr>
          <p:cNvSpPr>
            <a:spLocks noGrp="1"/>
          </p:cNvSpPr>
          <p:nvPr/>
        </p:nvSpPr>
        <p:spPr>
          <a:xfrm>
            <a:off x="7200900" y="3695700"/>
            <a:ext cx="4076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Imitation learning baselines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58DF3B-6525-4D7B-AC97-16C125311DF3}"/>
              </a:ext>
            </a:extLst>
          </p:cNvPr>
          <p:cNvSpPr>
            <a:spLocks noGrp="1"/>
          </p:cNvSpPr>
          <p:nvPr/>
        </p:nvSpPr>
        <p:spPr>
          <a:xfrm>
            <a:off x="7200900" y="4019550"/>
            <a:ext cx="4076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Built ACT-style and diffusion-policy-style training code; model training is running.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95B608F-A29F-43C9-9E96-A876777796F5}"/>
              </a:ext>
            </a:extLst>
          </p:cNvPr>
          <p:cNvSpPr>
            <a:spLocks noGrp="1"/>
          </p:cNvSpPr>
          <p:nvPr/>
        </p:nvSpPr>
        <p:spPr>
          <a:xfrm>
            <a:off x="723900" y="5029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 dirty="0">
                <a:solidFill>
                  <a:srgbClr val="4B5563"/>
                </a:solidFill>
              </a:rPr>
              <a:t>Main takeaway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1E276C-956F-45E7-9717-E0F34D7B77E2}"/>
              </a:ext>
            </a:extLst>
          </p:cNvPr>
          <p:cNvSpPr>
            <a:spLocks noGrp="1"/>
          </p:cNvSpPr>
          <p:nvPr/>
        </p:nvSpPr>
        <p:spPr>
          <a:xfrm>
            <a:off x="723900" y="5381625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 dirty="0">
                <a:solidFill>
                  <a:srgbClr val="111827"/>
                </a:solidFill>
              </a:rPr>
              <a:t>The data migration pipeline now has quantitative calibration evidence, while the learning baselines are in place for the next group-meeting update.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E35D1F-BF07-4CDD-8CC2-BA41B01A085F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EC14AF4-C6BA-4BB6-B506-4835AA00636D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7729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>
            <a:extLst>
              <a:ext uri="{FF2B5EF4-FFF2-40B4-BE49-F238E27FC236}">
                <a16:creationId xmlns:a16="http://schemas.microsoft.com/office/drawing/2014/main" id="{9B8DC019-05A6-41C3-97C2-214D63F25DF2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Force mapping now has a trained calibration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66117A2-8289-43EC-98F2-150F8C81EF42}"/>
              </a:ext>
            </a:extLst>
          </p:cNvPr>
          <p:cNvSpPr>
            <a:spLocks noGrp="1"/>
          </p:cNvSpPr>
          <p:nvPr/>
        </p:nvSpPr>
        <p:spPr>
          <a:xfrm>
            <a:off x="609600" y="990600"/>
            <a:ext cx="1097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Portable proxy signals are mapped to robot-frame normal force.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60AD62-BA07-4024-99F3-BC776F297C5E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B4CB1EA-11C7-47B9-8533-84DCA50F90E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DC693E-AF6C-4A6B-93E5-319B6CDD166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47E97F-65A5-422B-9BA9-D8F6E6B7BE62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Dataset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FC8513-C449-4046-A7D1-F238519D64C2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2428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3D32BD-7B46-4857-AF82-C7CA2B5D04C5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aligned samples from 7 sessions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BEC756A-EE68-4627-8D8F-82617484A36D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F5BA929-0E35-4185-BB3F-A35739889E25}"/>
              </a:ext>
            </a:extLst>
          </p:cNvPr>
          <p:cNvSpPr>
            <a:spLocks noGrp="1"/>
          </p:cNvSpPr>
          <p:nvPr/>
        </p:nvSpPr>
        <p:spPr>
          <a:xfrm>
            <a:off x="3333750" y="175260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631A59E-685E-4F16-B3C7-C19E131F64B7}"/>
              </a:ext>
            </a:extLst>
          </p:cNvPr>
          <p:cNvSpPr>
            <a:spLocks noGrp="1"/>
          </p:cNvSpPr>
          <p:nvPr/>
        </p:nvSpPr>
        <p:spPr>
          <a:xfrm>
            <a:off x="3543300" y="19240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Input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99AEF1-EADC-4EA5-BD02-5BA2AB091615}"/>
              </a:ext>
            </a:extLst>
          </p:cNvPr>
          <p:cNvSpPr>
            <a:spLocks noGrp="1"/>
          </p:cNvSpPr>
          <p:nvPr/>
        </p:nvSpPr>
        <p:spPr>
          <a:xfrm>
            <a:off x="3543300" y="2209800"/>
            <a:ext cx="2781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8D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3219DD8-B57C-49F0-851E-3C29A13AC5D3}"/>
              </a:ext>
            </a:extLst>
          </p:cNvPr>
          <p:cNvSpPr>
            <a:spLocks noGrp="1"/>
          </p:cNvSpPr>
          <p:nvPr/>
        </p:nvSpPr>
        <p:spPr>
          <a:xfrm>
            <a:off x="3543300" y="262890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pitch, roll, left/right 3-axis Paxini force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2323F38-2A93-4AF7-A423-743CB69FDEDA}"/>
              </a:ext>
            </a:extLst>
          </p:cNvPr>
          <p:cNvSpPr>
            <a:spLocks noGrp="1"/>
          </p:cNvSpPr>
          <p:nvPr/>
        </p:nvSpPr>
        <p:spPr>
          <a:xfrm>
            <a:off x="6743700" y="1752600"/>
            <a:ext cx="2381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D16D16-4244-4679-884F-6F5B1CC95E10}"/>
              </a:ext>
            </a:extLst>
          </p:cNvPr>
          <p:cNvSpPr>
            <a:spLocks noGrp="1"/>
          </p:cNvSpPr>
          <p:nvPr/>
        </p:nvSpPr>
        <p:spPr>
          <a:xfrm>
            <a:off x="6743700" y="1752600"/>
            <a:ext cx="66675" cy="12001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DAF5B1-BCBF-439A-AE98-F993E6F89F6A}"/>
              </a:ext>
            </a:extLst>
          </p:cNvPr>
          <p:cNvSpPr>
            <a:spLocks noGrp="1"/>
          </p:cNvSpPr>
          <p:nvPr/>
        </p:nvSpPr>
        <p:spPr>
          <a:xfrm>
            <a:off x="6953250" y="1924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Target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5165EA-E8DE-4448-925C-2E804F0C040F}"/>
              </a:ext>
            </a:extLst>
          </p:cNvPr>
          <p:cNvSpPr>
            <a:spLocks noGrp="1"/>
          </p:cNvSpPr>
          <p:nvPr/>
        </p:nvSpPr>
        <p:spPr>
          <a:xfrm>
            <a:off x="6953250" y="2209800"/>
            <a:ext cx="2019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2F290E-DAFF-4866-89BE-E01C28DE8293}"/>
              </a:ext>
            </a:extLst>
          </p:cNvPr>
          <p:cNvSpPr>
            <a:spLocks noGrp="1"/>
          </p:cNvSpPr>
          <p:nvPr/>
        </p:nvSpPr>
        <p:spPr>
          <a:xfrm>
            <a:off x="6953250" y="262890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KWR75B normal force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CE946D-5593-475A-91DB-1A9121D88D65}"/>
              </a:ext>
            </a:extLst>
          </p:cNvPr>
          <p:cNvSpPr>
            <a:spLocks noGrp="1"/>
          </p:cNvSpPr>
          <p:nvPr/>
        </p:nvSpPr>
        <p:spPr>
          <a:xfrm>
            <a:off x="9391650" y="1752600"/>
            <a:ext cx="21907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F741E3-A21D-4B57-A8EF-66C3E4A46015}"/>
              </a:ext>
            </a:extLst>
          </p:cNvPr>
          <p:cNvSpPr>
            <a:spLocks noGrp="1"/>
          </p:cNvSpPr>
          <p:nvPr/>
        </p:nvSpPr>
        <p:spPr>
          <a:xfrm>
            <a:off x="9391650" y="1752600"/>
            <a:ext cx="6667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5977EB-7377-4BC9-8F4D-AB873296C675}"/>
              </a:ext>
            </a:extLst>
          </p:cNvPr>
          <p:cNvSpPr>
            <a:spLocks noGrp="1"/>
          </p:cNvSpPr>
          <p:nvPr/>
        </p:nvSpPr>
        <p:spPr>
          <a:xfrm>
            <a:off x="9601200" y="192405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Split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95CCEDE-7D68-4DAA-A7FD-A8B88E56FFB1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828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1699 / 364 / 365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19E868-F4F8-440B-85EA-8D481222A460}"/>
              </a:ext>
            </a:extLst>
          </p:cNvPr>
          <p:cNvSpPr>
            <a:spLocks noGrp="1"/>
          </p:cNvSpPr>
          <p:nvPr/>
        </p:nvSpPr>
        <p:spPr>
          <a:xfrm>
            <a:off x="9601200" y="2628900"/>
            <a:ext cx="1828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train / val / test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485961-3ECF-4D7F-B16D-F8F25A5FA112}"/>
              </a:ext>
            </a:extLst>
          </p:cNvPr>
          <p:cNvSpPr>
            <a:spLocks noGrp="1"/>
          </p:cNvSpPr>
          <p:nvPr/>
        </p:nvSpPr>
        <p:spPr>
          <a:xfrm>
            <a:off x="876300" y="35242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Model performance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A9A300-314A-402B-BA7B-1BB21271312B}"/>
              </a:ext>
            </a:extLst>
          </p:cNvPr>
          <p:cNvSpPr>
            <a:spLocks noGrp="1"/>
          </p:cNvSpPr>
          <p:nvPr/>
        </p:nvSpPr>
        <p:spPr>
          <a:xfrm>
            <a:off x="971550" y="40386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Split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681A42-7982-49F1-985A-7359037FF765}"/>
              </a:ext>
            </a:extLst>
          </p:cNvPr>
          <p:cNvSpPr>
            <a:spLocks noGrp="1"/>
          </p:cNvSpPr>
          <p:nvPr/>
        </p:nvSpPr>
        <p:spPr>
          <a:xfrm>
            <a:off x="2400300" y="4038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MAE (N)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C046B0-101D-4D85-BCB2-00F19C772CCC}"/>
              </a:ext>
            </a:extLst>
          </p:cNvPr>
          <p:cNvSpPr>
            <a:spLocks noGrp="1"/>
          </p:cNvSpPr>
          <p:nvPr/>
        </p:nvSpPr>
        <p:spPr>
          <a:xfrm>
            <a:off x="3543300" y="4038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RMSE (N)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6EF8D69-337A-4F1B-818C-17239E841CC3}"/>
              </a:ext>
            </a:extLst>
          </p:cNvPr>
          <p:cNvSpPr>
            <a:spLocks noGrp="1"/>
          </p:cNvSpPr>
          <p:nvPr/>
        </p:nvSpPr>
        <p:spPr>
          <a:xfrm>
            <a:off x="4686300" y="40386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R2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3C6C800-D709-4824-88B2-99F688C78AA0}"/>
              </a:ext>
            </a:extLst>
          </p:cNvPr>
          <p:cNvSpPr>
            <a:spLocks noGrp="1"/>
          </p:cNvSpPr>
          <p:nvPr/>
        </p:nvSpPr>
        <p:spPr>
          <a:xfrm>
            <a:off x="5734050" y="40386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Pearson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CA915F-0919-4209-8528-E31A42068BC8}"/>
              </a:ext>
            </a:extLst>
          </p:cNvPr>
          <p:cNvSpPr>
            <a:spLocks noGrp="1"/>
          </p:cNvSpPr>
          <p:nvPr/>
        </p:nvSpPr>
        <p:spPr>
          <a:xfrm>
            <a:off x="895350" y="4371975"/>
            <a:ext cx="60579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9D1801-F0E1-43BE-A0AA-6E7912781B18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Train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6C608B5-B143-42CF-9C42-B2B30D2AB0BA}"/>
              </a:ext>
            </a:extLst>
          </p:cNvPr>
          <p:cNvSpPr>
            <a:spLocks noGrp="1"/>
          </p:cNvSpPr>
          <p:nvPr/>
        </p:nvSpPr>
        <p:spPr>
          <a:xfrm>
            <a:off x="2400300" y="44386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0.826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AF0CCA5-991C-414A-AC2B-EE582BA7C9B1}"/>
              </a:ext>
            </a:extLst>
          </p:cNvPr>
          <p:cNvSpPr>
            <a:spLocks noGrp="1"/>
          </p:cNvSpPr>
          <p:nvPr/>
        </p:nvSpPr>
        <p:spPr>
          <a:xfrm>
            <a:off x="3543300" y="44386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1.096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C2D5071-E01C-4ACA-B19E-437487858AC2}"/>
              </a:ext>
            </a:extLst>
          </p:cNvPr>
          <p:cNvSpPr>
            <a:spLocks noGrp="1"/>
          </p:cNvSpPr>
          <p:nvPr/>
        </p:nvSpPr>
        <p:spPr>
          <a:xfrm>
            <a:off x="4686300" y="44386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0.910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BBE04B4-86D3-4966-B8A4-B6857B0CA576}"/>
              </a:ext>
            </a:extLst>
          </p:cNvPr>
          <p:cNvSpPr>
            <a:spLocks noGrp="1"/>
          </p:cNvSpPr>
          <p:nvPr/>
        </p:nvSpPr>
        <p:spPr>
          <a:xfrm>
            <a:off x="5734050" y="44386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0.955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6DBF2F8-711D-450B-9156-568F3BE32E3B}"/>
              </a:ext>
            </a:extLst>
          </p:cNvPr>
          <p:cNvSpPr>
            <a:spLocks noGrp="1"/>
          </p:cNvSpPr>
          <p:nvPr/>
        </p:nvSpPr>
        <p:spPr>
          <a:xfrm>
            <a:off x="895350" y="4810125"/>
            <a:ext cx="60579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F38646-69B6-48AB-B27E-E0C562D7C7F2}"/>
              </a:ext>
            </a:extLst>
          </p:cNvPr>
          <p:cNvSpPr>
            <a:spLocks noGrp="1"/>
          </p:cNvSpPr>
          <p:nvPr/>
        </p:nvSpPr>
        <p:spPr>
          <a:xfrm>
            <a:off x="971550" y="48768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Validation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36E9E3-F400-456B-BB3F-90F56CF402EC}"/>
              </a:ext>
            </a:extLst>
          </p:cNvPr>
          <p:cNvSpPr>
            <a:spLocks noGrp="1"/>
          </p:cNvSpPr>
          <p:nvPr/>
        </p:nvSpPr>
        <p:spPr>
          <a:xfrm>
            <a:off x="2400300" y="48768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1.067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C0BF88-8583-42B2-9BFB-7E638CC71AB6}"/>
              </a:ext>
            </a:extLst>
          </p:cNvPr>
          <p:cNvSpPr>
            <a:spLocks noGrp="1"/>
          </p:cNvSpPr>
          <p:nvPr/>
        </p:nvSpPr>
        <p:spPr>
          <a:xfrm>
            <a:off x="3543300" y="48768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1.505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F13B9C9-A8F3-440B-8FE7-F63A46BE9DDC}"/>
              </a:ext>
            </a:extLst>
          </p:cNvPr>
          <p:cNvSpPr>
            <a:spLocks noGrp="1"/>
          </p:cNvSpPr>
          <p:nvPr/>
        </p:nvSpPr>
        <p:spPr>
          <a:xfrm>
            <a:off x="4686300" y="4876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0.860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1330208-776B-4130-9E9F-94CAB4AF28D5}"/>
              </a:ext>
            </a:extLst>
          </p:cNvPr>
          <p:cNvSpPr>
            <a:spLocks noGrp="1"/>
          </p:cNvSpPr>
          <p:nvPr/>
        </p:nvSpPr>
        <p:spPr>
          <a:xfrm>
            <a:off x="5734050" y="48768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0.930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CE37F6A-AE5D-4A35-B1BD-DB7387020C6B}"/>
              </a:ext>
            </a:extLst>
          </p:cNvPr>
          <p:cNvSpPr>
            <a:spLocks noGrp="1"/>
          </p:cNvSpPr>
          <p:nvPr/>
        </p:nvSpPr>
        <p:spPr>
          <a:xfrm>
            <a:off x="895350" y="5248275"/>
            <a:ext cx="6057900" cy="381000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94CB88D-D34E-44AE-B31D-9A5E4627D48F}"/>
              </a:ext>
            </a:extLst>
          </p:cNvPr>
          <p:cNvSpPr>
            <a:spLocks noGrp="1"/>
          </p:cNvSpPr>
          <p:nvPr/>
        </p:nvSpPr>
        <p:spPr>
          <a:xfrm>
            <a:off x="971550" y="53149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Test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E02E65F-20C2-4098-B5A6-7D3A8DBAB942}"/>
              </a:ext>
            </a:extLst>
          </p:cNvPr>
          <p:cNvSpPr>
            <a:spLocks noGrp="1"/>
          </p:cNvSpPr>
          <p:nvPr/>
        </p:nvSpPr>
        <p:spPr>
          <a:xfrm>
            <a:off x="2400300" y="5314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1.183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DA2F804-2F93-4BA7-8D57-E75C10C247C7}"/>
              </a:ext>
            </a:extLst>
          </p:cNvPr>
          <p:cNvSpPr>
            <a:spLocks noGrp="1"/>
          </p:cNvSpPr>
          <p:nvPr/>
        </p:nvSpPr>
        <p:spPr>
          <a:xfrm>
            <a:off x="3543300" y="5314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1.683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2E85DCA-F153-45A5-BF83-1794AB621390}"/>
              </a:ext>
            </a:extLst>
          </p:cNvPr>
          <p:cNvSpPr>
            <a:spLocks noGrp="1"/>
          </p:cNvSpPr>
          <p:nvPr/>
        </p:nvSpPr>
        <p:spPr>
          <a:xfrm>
            <a:off x="4686300" y="53149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0.847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BF8749A-E422-4867-8E47-EA080C2A08AD}"/>
              </a:ext>
            </a:extLst>
          </p:cNvPr>
          <p:cNvSpPr>
            <a:spLocks noGrp="1"/>
          </p:cNvSpPr>
          <p:nvPr/>
        </p:nvSpPr>
        <p:spPr>
          <a:xfrm>
            <a:off x="5734050" y="53149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0.921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3BCB8BF-1CF9-4D50-9E62-1FE9A6EBCE34}"/>
              </a:ext>
            </a:extLst>
          </p:cNvPr>
          <p:cNvSpPr>
            <a:spLocks noGrp="1"/>
          </p:cNvSpPr>
          <p:nvPr/>
        </p:nvSpPr>
        <p:spPr>
          <a:xfrm>
            <a:off x="6953250" y="3562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Held-out interpretation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29CE7BA-20FD-4D3E-BF08-A360A8468CCD}"/>
              </a:ext>
            </a:extLst>
          </p:cNvPr>
          <p:cNvSpPr>
            <a:spLocks noGrp="1"/>
          </p:cNvSpPr>
          <p:nvPr/>
        </p:nvSpPr>
        <p:spPr>
          <a:xfrm>
            <a:off x="6953250" y="403860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Test MAE: 1.18 N; test RMSE: 1.68 N.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Test R2: 0.847; Pearson correlation: 0.921.</a:t>
            </a:r>
          </a:p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- Validation and test gaps are moderate, suggesting the mapping generalizes beyond training sessions.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1CC1304-87D7-4B55-8419-BD475ED5C247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ABB7431-A1D6-47F6-9232-8C0A33844006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7818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711E10F-B249-46FA-A5CC-EB46A010B8C8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Rigid pose conversion: 6628 matched motion pairs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94B02C-BC58-435E-A1BE-C039595D7475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2425" y="1581150"/>
            <a:ext cx="5279100" cy="43434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3640764D-27D2-4E38-8CA6-9DDADF11D504}"/>
              </a:ext>
            </a:extLst>
          </p:cNvPr>
          <p:cNvSpPr>
            <a:spLocks noGrp="1"/>
          </p:cNvSpPr>
          <p:nvPr/>
        </p:nvSpPr>
        <p:spPr>
          <a:xfrm>
            <a:off x="8515350" y="175260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AF4023-7190-4150-8FA2-B34DDC694CC1}"/>
              </a:ext>
            </a:extLst>
          </p:cNvPr>
          <p:cNvSpPr>
            <a:spLocks noGrp="1"/>
          </p:cNvSpPr>
          <p:nvPr/>
        </p:nvSpPr>
        <p:spPr>
          <a:xfrm>
            <a:off x="8515350" y="175260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6EA325-849E-4170-B2F1-42BA0F1E63D8}"/>
              </a:ext>
            </a:extLst>
          </p:cNvPr>
          <p:cNvSpPr>
            <a:spLocks noGrp="1"/>
          </p:cNvSpPr>
          <p:nvPr/>
        </p:nvSpPr>
        <p:spPr>
          <a:xfrm>
            <a:off x="8724900" y="19240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Full 6-DoF test error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E4756-DF1F-42DD-9104-18BC89FB1DF5}"/>
              </a:ext>
            </a:extLst>
          </p:cNvPr>
          <p:cNvSpPr>
            <a:spLocks noGrp="1"/>
          </p:cNvSpPr>
          <p:nvPr/>
        </p:nvSpPr>
        <p:spPr>
          <a:xfrm>
            <a:off x="8724900" y="220980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2.73 mm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FE29AF-B6E1-43EB-9704-0B57D1C8E2B7}"/>
              </a:ext>
            </a:extLst>
          </p:cNvPr>
          <p:cNvSpPr>
            <a:spLocks noGrp="1"/>
          </p:cNvSpPr>
          <p:nvPr/>
        </p:nvSpPr>
        <p:spPr>
          <a:xfrm>
            <a:off x="8724900" y="26289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translation mean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A1D908E-8FA2-411B-8777-D46E9CCF25B0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C93E04-32B2-499D-A7CA-6CD35ADD04A7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66675" cy="12001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D34C174-A45E-4D06-905D-947F3432D4E2}"/>
              </a:ext>
            </a:extLst>
          </p:cNvPr>
          <p:cNvSpPr>
            <a:spLocks noGrp="1"/>
          </p:cNvSpPr>
          <p:nvPr/>
        </p:nvSpPr>
        <p:spPr>
          <a:xfrm>
            <a:off x="8724900" y="32766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Full 6-DoF rotation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61382B8-DAB9-40FB-B9A9-853A343A6B13}"/>
              </a:ext>
            </a:extLst>
          </p:cNvPr>
          <p:cNvSpPr>
            <a:spLocks noGrp="1"/>
          </p:cNvSpPr>
          <p:nvPr/>
        </p:nvSpPr>
        <p:spPr>
          <a:xfrm>
            <a:off x="8724900" y="356235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1.24 deg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4FBB4B-C5AD-444B-8BAE-16566433C46F}"/>
              </a:ext>
            </a:extLst>
          </p:cNvPr>
          <p:cNvSpPr>
            <a:spLocks noGrp="1"/>
          </p:cNvSpPr>
          <p:nvPr/>
        </p:nvSpPr>
        <p:spPr>
          <a:xfrm>
            <a:off x="8724900" y="3981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rotation mean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67E4B81-1880-4508-91CD-B2BA4576B72F}"/>
              </a:ext>
            </a:extLst>
          </p:cNvPr>
          <p:cNvSpPr>
            <a:spLocks noGrp="1"/>
          </p:cNvSpPr>
          <p:nvPr/>
        </p:nvSpPr>
        <p:spPr>
          <a:xfrm>
            <a:off x="8515350" y="445770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CCC2E6-BFB4-47C3-9927-9ED77B0C3FD2}"/>
              </a:ext>
            </a:extLst>
          </p:cNvPr>
          <p:cNvSpPr>
            <a:spLocks noGrp="1"/>
          </p:cNvSpPr>
          <p:nvPr/>
        </p:nvSpPr>
        <p:spPr>
          <a:xfrm>
            <a:off x="8515350" y="4457700"/>
            <a:ext cx="66675" cy="12001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1906008-BE25-44F8-9DBE-CCC7C4AE885B}"/>
              </a:ext>
            </a:extLst>
          </p:cNvPr>
          <p:cNvSpPr>
            <a:spLocks noGrp="1"/>
          </p:cNvSpPr>
          <p:nvPr/>
        </p:nvSpPr>
        <p:spPr>
          <a:xfrm>
            <a:off x="8724900" y="46291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Pairing quality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15B0616-F6CC-4940-9846-50912A99DBAE}"/>
              </a:ext>
            </a:extLst>
          </p:cNvPr>
          <p:cNvSpPr>
            <a:spLocks noGrp="1"/>
          </p:cNvSpPr>
          <p:nvPr/>
        </p:nvSpPr>
        <p:spPr>
          <a:xfrm>
            <a:off x="8724900" y="4914900"/>
            <a:ext cx="2495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16.72 ms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A98400-4327-49E4-BBAB-EBC478EF6055}"/>
              </a:ext>
            </a:extLst>
          </p:cNvPr>
          <p:cNvSpPr>
            <a:spLocks noGrp="1"/>
          </p:cNvSpPr>
          <p:nvPr/>
        </p:nvSpPr>
        <p:spPr>
          <a:xfrm>
            <a:off x="8724900" y="533400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maximum test-set time difference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BAB05AB-9EB8-47E5-8407-BDDD82CACF26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97A025-6BD1-4F30-B1E1-D57502E4083D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217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61DBB596-CF99-4A7C-9306-25709683472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The manuscript now has quantitative support for Section VI-A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3EE521-F560-4DFB-BBC9-5215A279A60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BBC3A6E-153E-4563-95B7-34381231767E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914041-68E7-4EAB-98D3-9FE75B89AD45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Added artifacts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6010EB-ADD7-4258-A6FA-60B94696EFBD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42291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- Rigid transformation validation figure in PNG/PDF/SVG.</a:t>
            </a:r>
          </a:p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- LaTeX table summarizing seven calibration sequences.</a:t>
            </a:r>
          </a:p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- Polished manuscript paragraph for Section VI-A.</a:t>
            </a:r>
          </a:p>
          <a:p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- Large-font figure version for readability in manuscript and slides.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5E762E4-AD54-4C88-941C-DD84CD535535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762500" cy="3429000"/>
          </a:xfrm>
          <a:prstGeom prst="roundRect">
            <a:avLst>
              <a:gd name="adj" fmla="val 2222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D92C6F-4471-4C7E-AF6C-6C8A369E8E79}"/>
              </a:ext>
            </a:extLst>
          </p:cNvPr>
          <p:cNvSpPr>
            <a:spLocks noGrp="1"/>
          </p:cNvSpPr>
          <p:nvPr/>
        </p:nvSpPr>
        <p:spPr>
          <a:xfrm>
            <a:off x="6743700" y="2000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What the section now argues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E58640-8172-49BE-A758-67C8C5BA6BC5}"/>
              </a:ext>
            </a:extLst>
          </p:cNvPr>
          <p:cNvSpPr>
            <a:spLocks noGrp="1"/>
          </p:cNvSpPr>
          <p:nvPr/>
        </p:nvSpPr>
        <p:spPr>
          <a:xfrm>
            <a:off x="6743700" y="2590800"/>
            <a:ext cx="400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11827"/>
                </a:solidFill>
              </a:defRPr>
            </a:pPr>
            <a:r>
              <a:rPr sz="1875" b="0">
                <a:solidFill>
                  <a:srgbClr val="111827"/>
                </a:solidFill>
              </a:rPr>
              <a:t>The calibrated marker-to-flange transform is stable on held-out motion pairs and can be used as a fixed conversion parameter for moving hospital-side marker trajectories into the robot end-effector frame.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0EB50-CA09-4D53-8F03-55BA631CF05D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4B76BE-91DB-400E-B692-B45753EC436D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615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2855374-C588-45E9-B3E5-6D05FB17E78E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ACT and diffusion baselines are ready for training results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34A456-E2DD-4416-A813-90D893770A87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084BB9-4003-49C7-BD09-2680573E9CE2}"/>
              </a:ext>
            </a:extLst>
          </p:cNvPr>
          <p:cNvSpPr>
            <a:spLocks noGrp="1"/>
          </p:cNvSpPr>
          <p:nvPr/>
        </p:nvSpPr>
        <p:spPr>
          <a:xfrm>
            <a:off x="723900" y="171450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219A5A-A955-4520-A3D0-A4807F7A3824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ACT-style chunk regressor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426428-B1D8-4F39-9F33-07A9A3C00833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ultrasound image -&gt; ResNet18 -&gt; MLP -&gt; future pose delta chunk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91644B-CE36-4DAE-8193-44213D632FA6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4000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Action horizon defaults to 20 x 7 pose deltas.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Supports with-force and without-force dataset variants.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Splits by source session to reduce temporal leakage.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D196CD4-8E89-49E6-97D5-A87AD0C0B84C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E448BB-2DA2-4F74-B1ED-C2C454C88F9D}"/>
              </a:ext>
            </a:extLst>
          </p:cNvPr>
          <p:cNvSpPr>
            <a:spLocks noGrp="1"/>
          </p:cNvSpPr>
          <p:nvPr/>
        </p:nvSpPr>
        <p:spPr>
          <a:xfrm>
            <a:off x="6743700" y="2000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C3AED"/>
                </a:solidFill>
              </a:defRPr>
            </a:pPr>
            <a:r>
              <a:rPr sz="1875" b="1">
                <a:solidFill>
                  <a:srgbClr val="7C3AED"/>
                </a:solidFill>
              </a:rPr>
              <a:t>Diffusion-policy-style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1CD7DF-EF21-4968-A3B6-EE6CB9AC186E}"/>
              </a:ext>
            </a:extLst>
          </p:cNvPr>
          <p:cNvSpPr>
            <a:spLocks noGrp="1"/>
          </p:cNvSpPr>
          <p:nvPr/>
        </p:nvSpPr>
        <p:spPr>
          <a:xfrm>
            <a:off x="6743700" y="2495550"/>
            <a:ext cx="4095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noisy future chunk + timestep + image condition -&gt; MLP denoiser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FC9B7C-4A7A-4B7C-B080-391D528EBC73}"/>
              </a:ext>
            </a:extLst>
          </p:cNvPr>
          <p:cNvSpPr>
            <a:spLocks noGrp="1"/>
          </p:cNvSpPr>
          <p:nvPr/>
        </p:nvSpPr>
        <p:spPr>
          <a:xfrm>
            <a:off x="6743700" y="3371850"/>
            <a:ext cx="4000500" cy="1295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Uses ResNet18 image condition.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Force can be concatenated to the conditioning vector.</a:t>
            </a:r>
          </a:p>
          <a:p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- Training scripts and configs are in place.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6F95BB-5360-42BA-9BC4-964124FE2541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A04AE1-5007-4023-950E-7C1A9B4EA418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3659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BA7329D-2318-4F65-AA8C-221B7028FA4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Training results remain the main group-meeting update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9709BF-3142-45EF-A991-9F3EB0305F7B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6FAC7A-95FE-4C94-B9C7-0A103A8307C9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 conversion and calibration evidence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A39518-BCC7-4338-9B59-59B10D657F7F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9144000" cy="1714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A3355C-9ADD-4CF4-9285-5C6195EBBD66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8686800" cy="171450"/>
          </a:xfrm>
          <a:prstGeom prst="rect">
            <a:avLst/>
          </a:prstGeom>
          <a:solidFill>
            <a:srgbClr val="059669"/>
          </a:solidFill>
          <a:ln w="0">
            <a:solidFill>
              <a:srgbClr val="059669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8B0F6A-11D1-482C-B808-98EABB49897D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Manuscript Section VI-A update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66E2C3-456E-415B-9333-9F02C6E3379B}"/>
              </a:ext>
            </a:extLst>
          </p:cNvPr>
          <p:cNvSpPr>
            <a:spLocks noGrp="1"/>
          </p:cNvSpPr>
          <p:nvPr/>
        </p:nvSpPr>
        <p:spPr>
          <a:xfrm>
            <a:off x="1143000" y="3181350"/>
            <a:ext cx="9144000" cy="1714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AF6DCC-A395-497B-A5AA-74FF8E9065E1}"/>
              </a:ext>
            </a:extLst>
          </p:cNvPr>
          <p:cNvSpPr>
            <a:spLocks noGrp="1"/>
          </p:cNvSpPr>
          <p:nvPr/>
        </p:nvSpPr>
        <p:spPr>
          <a:xfrm>
            <a:off x="1143000" y="3181350"/>
            <a:ext cx="8229600" cy="1714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46A25C-C32C-4512-9B97-235F9458FFAF}"/>
              </a:ext>
            </a:extLst>
          </p:cNvPr>
          <p:cNvSpPr>
            <a:spLocks noGrp="1"/>
          </p:cNvSpPr>
          <p:nvPr/>
        </p:nvSpPr>
        <p:spPr>
          <a:xfrm>
            <a:off x="1143000" y="3762375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ACT training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C913E8-463A-434D-AB97-13BCB4CEF4FA}"/>
              </a:ext>
            </a:extLst>
          </p:cNvPr>
          <p:cNvSpPr>
            <a:spLocks noGrp="1"/>
          </p:cNvSpPr>
          <p:nvPr/>
        </p:nvSpPr>
        <p:spPr>
          <a:xfrm>
            <a:off x="1143000" y="4086225"/>
            <a:ext cx="9144000" cy="1714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DC0F39-03D6-4774-B5AE-E8CA6B80848F}"/>
              </a:ext>
            </a:extLst>
          </p:cNvPr>
          <p:cNvSpPr>
            <a:spLocks noGrp="1"/>
          </p:cNvSpPr>
          <p:nvPr/>
        </p:nvSpPr>
        <p:spPr>
          <a:xfrm>
            <a:off x="1143000" y="4086225"/>
            <a:ext cx="5029200" cy="1714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5A8877-012D-4D7B-AED5-09192BEFDE0D}"/>
              </a:ext>
            </a:extLst>
          </p:cNvPr>
          <p:cNvSpPr>
            <a:spLocks noGrp="1"/>
          </p:cNvSpPr>
          <p:nvPr/>
        </p:nvSpPr>
        <p:spPr>
          <a:xfrm>
            <a:off x="1143000" y="4667250"/>
            <a:ext cx="914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Diffusion training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2F0D9B-A4A3-45BE-ABAA-8559F4F9370C}"/>
              </a:ext>
            </a:extLst>
          </p:cNvPr>
          <p:cNvSpPr>
            <a:spLocks noGrp="1"/>
          </p:cNvSpPr>
          <p:nvPr/>
        </p:nvSpPr>
        <p:spPr>
          <a:xfrm>
            <a:off x="1143000" y="4991100"/>
            <a:ext cx="9144000" cy="1714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1D9FCDB-5ECB-4DA2-AE7A-033CE15F671C}"/>
              </a:ext>
            </a:extLst>
          </p:cNvPr>
          <p:cNvSpPr>
            <a:spLocks noGrp="1"/>
          </p:cNvSpPr>
          <p:nvPr/>
        </p:nvSpPr>
        <p:spPr>
          <a:xfrm>
            <a:off x="1143000" y="4991100"/>
            <a:ext cx="5029200" cy="171450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776E74F-B944-40FF-8276-95F59107D178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4B5563"/>
                </a:solidFill>
              </a:defRPr>
            </a:pPr>
            <a:r>
              <a:rPr sz="1500" b="1">
                <a:solidFill>
                  <a:srgbClr val="4B5563"/>
                </a:solidFill>
              </a:rPr>
              <a:t>Placeholder for group meeting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EB3A48-7B40-4631-A5C0-5100FF1373C1}"/>
              </a:ext>
            </a:extLst>
          </p:cNvPr>
          <p:cNvSpPr>
            <a:spLocks noGrp="1"/>
          </p:cNvSpPr>
          <p:nvPr/>
        </p:nvSpPr>
        <p:spPr>
          <a:xfrm>
            <a:off x="1143000" y="58674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Insert ACT/diffusion loss curves and validation metrics once the current runs finish.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E1DE97-12DC-436A-BF84-63CF628D811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F2B37A5-3C3C-439A-AA0F-269F4A0E03AC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604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82F02A3-A778-4F87-B78E-B4A69CA1C861}"/>
              </a:ext>
            </a:extLst>
          </p:cNvPr>
          <p:cNvSpPr>
            <a:spLocks noGrp="1"/>
          </p:cNvSpPr>
          <p:nvPr/>
        </p:nvSpPr>
        <p:spPr>
          <a:xfrm>
            <a:off x="609600" y="419100"/>
            <a:ext cx="10972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Next step: connect calibrated data to policy learning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78631-8971-4327-9BC6-DE7C2D990D4A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D1D5DB"/>
          </a:solidFill>
          <a:ln w="0">
            <a:solidFill>
              <a:srgbClr val="D1D5DB"/>
            </a:solidFill>
            <a:prstDash val="solid"/>
          </a:ln>
        </p:spPr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5E8732E-0F19-413A-A6F2-7279ADFFB090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FE7DFE-0B68-4BA6-911E-18101DAA0AC6}"/>
              </a:ext>
            </a:extLst>
          </p:cNvPr>
          <p:cNvSpPr>
            <a:spLocks noGrp="1"/>
          </p:cNvSpPr>
          <p:nvPr/>
        </p:nvSpPr>
        <p:spPr>
          <a:xfrm>
            <a:off x="1066800" y="21336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Before group meeting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41384E-E74A-49F6-81F2-B55E04607F25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Add ACT and diffusion loss curves.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Report validation and test metrics.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Identify whether force input improves pose prediction.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033CAC2-7936-4276-8B49-40E9AAE2907C}"/>
              </a:ext>
            </a:extLst>
          </p:cNvPr>
          <p:cNvSpPr>
            <a:spLocks noGrp="1"/>
          </p:cNvSpPr>
          <p:nvPr/>
        </p:nvSpPr>
        <p:spPr>
          <a:xfrm>
            <a:off x="4514850" y="18097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91F039-9746-4610-8690-58FB61624AAE}"/>
              </a:ext>
            </a:extLst>
          </p:cNvPr>
          <p:cNvSpPr>
            <a:spLocks noGrp="1"/>
          </p:cNvSpPr>
          <p:nvPr/>
        </p:nvSpPr>
        <p:spPr>
          <a:xfrm>
            <a:off x="4800600" y="21336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Manuscript updates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6F76CA-F793-43C4-8589-C3180DBF84E6}"/>
              </a:ext>
            </a:extLst>
          </p:cNvPr>
          <p:cNvSpPr>
            <a:spLocks noGrp="1"/>
          </p:cNvSpPr>
          <p:nvPr/>
        </p:nvSpPr>
        <p:spPr>
          <a:xfrm>
            <a:off x="4800600" y="27241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Place figure between related result paragraphs.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Keep large-font figure for readability.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Align table and caption with final results wording.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58D9578-03D6-424A-85A9-398FC3F29CC1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FE56B9-03EC-435F-A5DE-B9A61D57AAA6}"/>
              </a:ext>
            </a:extLst>
          </p:cNvPr>
          <p:cNvSpPr>
            <a:spLocks noGrp="1"/>
          </p:cNvSpPr>
          <p:nvPr/>
        </p:nvSpPr>
        <p:spPr>
          <a:xfrm>
            <a:off x="8534400" y="21336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D97706"/>
                </a:solidFill>
              </a:defRPr>
            </a:pPr>
            <a:r>
              <a:rPr sz="1800" b="1">
                <a:solidFill>
                  <a:srgbClr val="D97706"/>
                </a:solidFill>
              </a:rPr>
              <a:t>Experiment follow-up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AB72B9-ED0F-489F-B51E-18254749EDBB}"/>
              </a:ext>
            </a:extLst>
          </p:cNvPr>
          <p:cNvSpPr>
            <a:spLocks noGrp="1"/>
          </p:cNvSpPr>
          <p:nvPr/>
        </p:nvSpPr>
        <p:spPr>
          <a:xfrm>
            <a:off x="8534400" y="2724150"/>
            <a:ext cx="238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Check robustness across more scanning sessions.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Compare with-force vs without-force policies.</a:t>
            </a: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- Prepare qualitative rollout examples if available.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78568D9-2AC6-4983-8C29-CAFDF07A0481}"/>
              </a:ext>
            </a:extLst>
          </p:cNvPr>
          <p:cNvSpPr>
            <a:spLocks noGrp="1"/>
          </p:cNvSpPr>
          <p:nvPr/>
        </p:nvSpPr>
        <p:spPr>
          <a:xfrm>
            <a:off x="781050" y="5476875"/>
            <a:ext cx="981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Goal for the next update: move from calibrated data conversion to measurable imitation-learning performance.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E47EBE-9C3C-4273-94B5-5F3ECDAF7EDA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Ultrasound probe imitation learning - weekly update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6F4C97-164F-44D5-8761-2C804D7A8B59}"/>
              </a:ext>
            </a:extLst>
          </p:cNvPr>
          <p:cNvSpPr>
            <a:spLocks noGrp="1"/>
          </p:cNvSpPr>
          <p:nvPr/>
        </p:nvSpPr>
        <p:spPr>
          <a:xfrm>
            <a:off x="11182350" y="63627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0">
                <a:solidFill>
                  <a:srgbClr val="6B7280"/>
                </a:solidFill>
              </a:defRPr>
            </a:pPr>
            <a:r>
              <a:rPr sz="975" b="0">
                <a:solidFill>
                  <a:srgbClr val="6B72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49116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</TotalTime>
  <Words>670</Words>
  <Application>Microsoft Office PowerPoint</Application>
  <DocSecurity>0</DocSecurity>
  <PresentationFormat>宽屏</PresentationFormat>
  <Paragraphs>130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Garamond</vt:lpstr>
      <vt:lpstr>环保</vt:lpstr>
      <vt:lpstr>7.15 group meeting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灏锦 张</cp:lastModifiedBy>
  <cp:revision>1</cp:revision>
  <dcterms:created xsi:type="dcterms:W3CDTF">2026-07-13T09:51:20Z</dcterms:created>
  <dcterms:modified xsi:type="dcterms:W3CDTF">2026-07-14T02:47:11Z</dcterms:modified>
</cp:coreProperties>
</file>